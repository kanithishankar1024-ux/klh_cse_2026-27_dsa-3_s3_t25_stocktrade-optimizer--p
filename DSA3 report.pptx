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82" d="100"/>
          <a:sy n="82" d="100"/>
        </p:scale>
        <p:origin x="337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238" y="943689"/>
            <a:ext cx="4673917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 STRUCTURES AND ALGORITHMS – 3 (</a:t>
            </a:r>
            <a:r>
              <a:rPr lang="en-US" sz="1400" b="1" dirty="0"/>
              <a:t>25CS2103E)</a:t>
            </a:r>
            <a:endParaRPr sz="1400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519" y="2195979"/>
            <a:ext cx="5537354" cy="167481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58470" marR="450850" algn="ctr"/>
            <a:r>
              <a:rPr lang="en-US" dirty="0" err="1"/>
              <a:t>TradeOptima</a:t>
            </a:r>
            <a:r>
              <a:rPr lang="en-US" dirty="0"/>
              <a:t>: An Optimal Trading Platform </a:t>
            </a:r>
          </a:p>
          <a:p>
            <a:pPr marL="458470" marR="450850" algn="ctr"/>
            <a:endParaRPr lang="en-US" dirty="0"/>
          </a:p>
          <a:p>
            <a:pPr marL="458470" marR="450850" algn="ctr"/>
            <a:r>
              <a:rPr b="1" spc="-25" dirty="0">
                <a:latin typeface="Times New Roman"/>
                <a:cs typeface="Times New Roman"/>
              </a:rPr>
              <a:t>Team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Members</a:t>
            </a:r>
            <a:r>
              <a:rPr spc="-10" dirty="0">
                <a:latin typeface="Times New Roman"/>
                <a:cs typeface="Times New Roman"/>
              </a:rPr>
              <a:t>: </a:t>
            </a:r>
            <a:endParaRPr lang="en-US" spc="-10" dirty="0">
              <a:latin typeface="Times New Roman"/>
              <a:cs typeface="Times New Roman"/>
            </a:endParaRPr>
          </a:p>
          <a:p>
            <a:pPr marL="458470" marR="450850" algn="ctr"/>
            <a:r>
              <a:rPr lang="en-US" dirty="0">
                <a:latin typeface="Times New Roman"/>
                <a:cs typeface="Times New Roman"/>
              </a:rPr>
              <a:t>2520030558 - V. Rohan</a:t>
            </a:r>
          </a:p>
          <a:p>
            <a:pPr marL="458470" marR="450850" algn="ctr"/>
            <a:r>
              <a:rPr lang="en-US" dirty="0">
                <a:latin typeface="Times New Roman"/>
                <a:cs typeface="Times New Roman"/>
              </a:rPr>
              <a:t>2520030088 - J. </a:t>
            </a:r>
            <a:r>
              <a:rPr lang="en-US" dirty="0" err="1">
                <a:latin typeface="Times New Roman"/>
                <a:cs typeface="Times New Roman"/>
              </a:rPr>
              <a:t>Satyan</a:t>
            </a:r>
            <a:endParaRPr lang="en-US" dirty="0">
              <a:latin typeface="Times New Roman"/>
              <a:cs typeface="Times New Roman"/>
            </a:endParaRPr>
          </a:p>
          <a:p>
            <a:pPr marL="458470" marR="450850" algn="ctr"/>
            <a:r>
              <a:rPr lang="en-US" dirty="0">
                <a:latin typeface="Times New Roman"/>
                <a:cs typeface="Times New Roman"/>
              </a:rPr>
              <a:t>2520030063 - K. Shankar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9238" y="4151459"/>
            <a:ext cx="4673917" cy="70532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6195"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Supervised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Dr.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lang="en-US" sz="1500" b="1" dirty="0">
                <a:latin typeface="Times New Roman"/>
                <a:cs typeface="Times New Roman"/>
              </a:rPr>
              <a:t>J. Sirisha Devi </a:t>
            </a:r>
            <a:endParaRPr sz="15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Co-supervised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By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lang="en-US" sz="1500" b="1" dirty="0">
                <a:latin typeface="Times New Roman"/>
                <a:cs typeface="Times New Roman"/>
              </a:rPr>
              <a:t>J. Yamini Devi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977" y="5339564"/>
            <a:ext cx="3028438" cy="10500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24720" y="6872431"/>
            <a:ext cx="3322954" cy="50783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Department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Computer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Engineering</a:t>
            </a:r>
            <a:endParaRPr sz="1200" dirty="0">
              <a:latin typeface="Times New Roman"/>
              <a:cs typeface="Times New Roman"/>
            </a:endParaRPr>
          </a:p>
          <a:p>
            <a:pPr marL="731520" marR="723900" algn="ctr">
              <a:lnSpc>
                <a:spcPct val="197900"/>
              </a:lnSpc>
            </a:pPr>
            <a:r>
              <a:rPr sz="1200" b="1" dirty="0">
                <a:latin typeface="Times New Roman"/>
                <a:cs typeface="Times New Roman"/>
              </a:rPr>
              <a:t>KLH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University,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 err="1">
                <a:latin typeface="Times New Roman"/>
                <a:cs typeface="Times New Roman"/>
              </a:rPr>
              <a:t>Bachupally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13916"/>
            <a:ext cx="5969000" cy="86305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rtl="0"/>
            <a:r>
              <a:rPr lang="en-US" sz="1600" dirty="0"/>
              <a:t>		          </a:t>
            </a:r>
            <a:r>
              <a:rPr lang="en-US" b="1" u="sng" dirty="0"/>
              <a:t>ABSTRACT</a:t>
            </a:r>
            <a:br>
              <a:rPr lang="en-US" sz="1600" dirty="0"/>
            </a:br>
            <a:r>
              <a:rPr lang="en-US" sz="1600" dirty="0"/>
              <a:t>Real-world trading systems are never built on a single algorithm. They need fast search over tickers and news, optimal decisions under trading constraints, efficient order routing across venues, smart asset selection under a budget, and realistic risk estimation. Standard linear and tree/graph techniques from earlier coursework cannot handle sub-quadratic text search, optimal constrained sequencing, or capacity-constrained routing. This project presents </a:t>
            </a:r>
            <a:r>
              <a:rPr lang="en-US" sz="1600" dirty="0" err="1"/>
              <a:t>TradeOptima</a:t>
            </a:r>
            <a:r>
              <a:rPr lang="en-US" sz="1600" dirty="0"/>
              <a:t>, a modular algorithmic-trading platform in Java that combines five advanced-algorithm families, with every algorithm and data structure hand-built without </a:t>
            </a:r>
            <a:r>
              <a:rPr lang="en-US" sz="1600" dirty="0" err="1"/>
              <a:t>java.util</a:t>
            </a:r>
            <a:r>
              <a:rPr lang="en-US" sz="1600" dirty="0"/>
              <a:t>.</a:t>
            </a:r>
          </a:p>
          <a:p>
            <a:pPr algn="l" rtl="0"/>
            <a:r>
              <a:rPr lang="en-US" sz="1600" dirty="0"/>
              <a:t>The platform has five subsystems. A string-search engine uses KMP, the Z-function, and </a:t>
            </a:r>
            <a:r>
              <a:rPr lang="en-US" sz="1600" dirty="0" err="1"/>
              <a:t>Aho-Corasick</a:t>
            </a:r>
            <a:r>
              <a:rPr lang="en-US" sz="1600" dirty="0"/>
              <a:t> for exact and multi-pattern matching across tickers and news feeds. The core module is a dynamic-programming optimizer. It models trading as a state machine (Idle, Holding, Cooldown) to maximize profit under a limit of k trades, transaction fees, and cooldown periods, then backtracks to produce a full Buy/Sell/Hold ledger. A cross-venue order router applies min-cost max-flow and bipartite matching to route orders across exchanges for best execution price. A budget-constrained portfolio selector treats asset selection as a knapsack-style NP-hard problem and solves it with an approximation algorithm that has a provable ratio guarantee. Finally, a randomized risk engine runs Monte Carlo Value-at-Risk simulation and reservoir sampling over streaming price data.</a:t>
            </a:r>
          </a:p>
          <a:p>
            <a:pPr algn="l" rtl="0"/>
            <a:r>
              <a:rPr lang="en-US" sz="1600" dirty="0"/>
              <a:t>The platform takes price histories, order books, news corpora, and candidate assets with a budget as input. It produces a trade ledger, a routed order plan, a selected portfolio, and a risk estimate. The core optimizer is designed to handle up to 10⁵ price points and 1000 trades in under 2 seconds, with its ledger validated against a brute-force reference on small inputs. Each subsystem is independently tested with JUnit 5, including checks for the randomized algorithms. </a:t>
            </a:r>
            <a:r>
              <a:rPr lang="en-US" sz="1600" dirty="0" err="1"/>
              <a:t>TradeOptima</a:t>
            </a:r>
            <a:r>
              <a:rPr lang="en-US" sz="1600" dirty="0"/>
              <a:t> demonstrates how the major advanced-algorithm families can work together in one end-to-end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409</Words>
  <Application>Microsoft Macintosh PowerPoint</Application>
  <PresentationFormat>Custom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</dc:title>
  <cp:lastModifiedBy>Rohan Jacob Variganji</cp:lastModifiedBy>
  <cp:revision>4</cp:revision>
  <dcterms:created xsi:type="dcterms:W3CDTF">2026-10-04T16:23:46Z</dcterms:created>
  <dcterms:modified xsi:type="dcterms:W3CDTF">2026-10-04T18:35:48Z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2026-10-04T00:00:00Z</vt:filetime>
  </property>
  <property fmtid="{D5CDD505-2E9C-101B-9397-08002B2CF9AE}" pid="4" name="Producer">
    <vt:lpwstr>Skia/PDF m156 Google Docs Renderer</vt:lpwstr>
  </property>
  <property fmtid="{D5CDD505-2E9C-101B-9397-08002B2CF9AE}" pid="5" name="LastSaved">
    <vt:filetime>2026-10-04T00:00:00Z</vt:filetime>
  </property>
</Properties>
</file>