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988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5486400"/>
            <a:ext cx="384048" cy="914400"/>
          </a:xfrm>
          <a:prstGeom prst="rect">
            <a:avLst/>
          </a:prstGeom>
          <a:solidFill>
            <a:srgbClr val="8FA3D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95944" y="4937760"/>
            <a:ext cx="384048" cy="1463040"/>
          </a:xfrm>
          <a:prstGeom prst="rect">
            <a:avLst/>
          </a:prstGeom>
          <a:solidFill>
            <a:srgbClr val="00C85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08008" y="5303520"/>
            <a:ext cx="384048" cy="1097280"/>
          </a:xfrm>
          <a:prstGeom prst="rect">
            <a:avLst/>
          </a:prstGeom>
          <a:solidFill>
            <a:srgbClr val="8FA3D6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20072" y="4480560"/>
            <a:ext cx="384048" cy="1920240"/>
          </a:xfrm>
          <a:prstGeom prst="rect">
            <a:avLst/>
          </a:prstGeom>
          <a:solidFill>
            <a:srgbClr val="00C853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32136" y="4846320"/>
            <a:ext cx="384048" cy="1554480"/>
          </a:xfrm>
          <a:prstGeom prst="rect">
            <a:avLst/>
          </a:prstGeom>
          <a:solidFill>
            <a:srgbClr val="8FA3D6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44200" y="4023360"/>
            <a:ext cx="384048" cy="2377440"/>
          </a:xfrm>
          <a:prstGeom prst="rect">
            <a:avLst/>
          </a:prstGeom>
          <a:solidFill>
            <a:srgbClr val="00C853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256264" y="4572000"/>
            <a:ext cx="384048" cy="1828800"/>
          </a:xfrm>
          <a:prstGeom prst="rect">
            <a:avLst/>
          </a:prstGeom>
          <a:solidFill>
            <a:srgbClr val="8FA3D6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68328" y="3566160"/>
            <a:ext cx="384048" cy="2834640"/>
          </a:xfrm>
          <a:prstGeom prst="rect">
            <a:avLst/>
          </a:prstGeom>
          <a:solidFill>
            <a:srgbClr val="00C853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· ADVANCED ALGORITHMS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TradeOptima</a:t>
            </a: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An Optimal Trading platform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Algorithmic Trading Platform Spanning the Advanced-Algorithm Canon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Search  ·  Dynamic Programming  ·  Network Flow  ·  NP-Hard Approximation  ·  Randomized Algorithms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2 |     Course: [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25CS2103E</a:t>
            </a: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Section - 3]</a:t>
            </a:r>
            <a:endParaRPr lang="en-US" sz="1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EC9E2E9-9259-00ED-13AF-B028CC7C6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134112"/>
              </p:ext>
            </p:extLst>
          </p:nvPr>
        </p:nvGraphicFramePr>
        <p:xfrm>
          <a:off x="1334823" y="4412311"/>
          <a:ext cx="509334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671">
                  <a:extLst>
                    <a:ext uri="{9D8B030D-6E8A-4147-A177-3AD203B41FA5}">
                      <a16:colId xmlns:a16="http://schemas.microsoft.com/office/drawing/2014/main" val="3984259967"/>
                    </a:ext>
                  </a:extLst>
                </a:gridCol>
                <a:gridCol w="2546671">
                  <a:extLst>
                    <a:ext uri="{9D8B030D-6E8A-4147-A177-3AD203B41FA5}">
                      <a16:colId xmlns:a16="http://schemas.microsoft.com/office/drawing/2014/main" val="44869835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V. Rohan 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2520030558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1075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J. </a:t>
                      </a:r>
                      <a:r>
                        <a:rPr lang="en-US" b="0" dirty="0" err="1">
                          <a:solidFill>
                            <a:schemeClr val="bg2"/>
                          </a:solidFill>
                        </a:rPr>
                        <a:t>Satyan</a:t>
                      </a:r>
                      <a:endParaRPr lang="en-US" b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2520030088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20839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K. Shankar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2520030063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631841"/>
                  </a:ext>
                </a:extLst>
              </a:tr>
            </a:tbl>
          </a:graphicData>
        </a:graphic>
      </p:graphicFrame>
      <p:pic>
        <p:nvPicPr>
          <p:cNvPr id="1028" name="Picture 4" descr="Contact Bachupally-Bowrampet, Hyderabad Campus - KLH University">
            <a:extLst>
              <a:ext uri="{FF2B5EF4-FFF2-40B4-BE49-F238E27FC236}">
                <a16:creationId xmlns:a16="http://schemas.microsoft.com/office/drawing/2014/main" id="{02B43193-8512-9295-66E9-F3143E4C9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047" y="1760220"/>
            <a:ext cx="3766632" cy="155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rame 14">
            <a:extLst>
              <a:ext uri="{FF2B5EF4-FFF2-40B4-BE49-F238E27FC236}">
                <a16:creationId xmlns:a16="http://schemas.microsoft.com/office/drawing/2014/main" id="{1FDAC9A2-3150-D8F6-A965-C7A3EF077C0E}"/>
              </a:ext>
            </a:extLst>
          </p:cNvPr>
          <p:cNvSpPr/>
          <p:nvPr/>
        </p:nvSpPr>
        <p:spPr>
          <a:xfrm>
            <a:off x="8033047" y="1760220"/>
            <a:ext cx="3775166" cy="1554480"/>
          </a:xfrm>
          <a:prstGeom prst="frame">
            <a:avLst>
              <a:gd name="adj1" fmla="val 26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28278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trading platform is never a single-algorithm system. It needs fast search over tickers and news, optimal decisions under trading constraints, efficient order routing across venues, smart selection under a budget, and realistic risk simulation.</a:t>
            </a:r>
          </a:p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TradeOptima is a single trading platform, built across five subsystems: a string-algorithm ticker/news search engine, a dynamic-programming core that optimizes constrained multi-trade profit under trade limits, fees, and cooldowns, a network-flow order router for cross-venue liquidity matching, an NP-hard portfolio selector solved via approximation under a budget constraint, and a randomized risk engine using Monte Carlo simulation.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18119" y="1325880"/>
            <a:ext cx="3794760" cy="4754880"/>
          </a:xfrm>
          <a:prstGeom prst="roundRect">
            <a:avLst>
              <a:gd name="adj" fmla="val 2892"/>
            </a:avLst>
          </a:prstGeom>
          <a:solidFill>
            <a:srgbClr val="E9EFFB"/>
          </a:solidFill>
          <a:ln/>
        </p:spPr>
      </p:sp>
      <p:sp>
        <p:nvSpPr>
          <p:cNvPr id="6" name="Shape 4"/>
          <p:cNvSpPr/>
          <p:nvPr/>
        </p:nvSpPr>
        <p:spPr>
          <a:xfrm>
            <a:off x="9166860" y="20116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project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506" y="2154326"/>
            <a:ext cx="811987" cy="8119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Algorithm Families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92440" y="4069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subsystems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92440" y="4361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core + 4 supporting engines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92439" y="4846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92439" y="5138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DP optimizer runtime at max scale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09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optimal trading platform, a modular algorithmic-trading platform spanning five advanced-algorithm families: fuzzy ticker/news search (string algorithms), constrained multi-trade profit optimization (dynamic programming), cross-venue order routing (network flow), budget-constrained portfolio selection (NP-hard approximation), and Monte Carlo risk simulation (randomized algorithms) — each hand-built, since the linear and tree/graph algorithms from DSA-1/DSA-2 cannot solve sub-quadratic search, optimal constrained sequencing, or capacity-constrained routing.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264408"/>
            <a:ext cx="658368" cy="658368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7" name="Image 0" descr="/home/claude/project/icons/file-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8" y="3349996"/>
            <a:ext cx="487192" cy="487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0690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history, trade limits, fee &amp; cooldown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Ticker/news corpus, venue order books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assets + budget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297180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3264408"/>
            <a:ext cx="658368" cy="658368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12" name="Image 1" descr="/home/claude/project/icons/file-ex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316" y="3349996"/>
            <a:ext cx="487192" cy="487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40690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81728" y="4480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Buy/Sell/Hold trade ledger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order plan + matched venues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portfolio + risk estimate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74736" y="297180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94776" y="3264408"/>
            <a:ext cx="658368" cy="658368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17" name="Image 2" descr="/home/claude/project/icons/balance-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0364" y="3349996"/>
            <a:ext cx="487192" cy="487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4776" y="40690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94776" y="4480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DP: N ≤ 10⁵, k ≤ 1000, &lt; 2 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java.util across all subsystems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➔"/>
            </a:pPr>
            <a:r>
              <a:rPr lang="en-US" sz="11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subsystem independently tested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Implementations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63624"/>
            <a:ext cx="548640" cy="54864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6" name="Image 0" descr="/home/claude/project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1634947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08760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Ticker &amp; News 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819656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KMP, Z-function &amp; Aho-Corasick for exact and multi-pattern search across tickers and news feeds.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386584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532888"/>
            <a:ext cx="548640" cy="54864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11" name="Image 1" descr="/home/claude/project/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2604211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478024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Constrained Trade Optimizer (Core)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278892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DP over Idle / Holding / Cooldown computes max profit under k trades, fees &amp; cooldown, then backtracks to a full trade ledger.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355848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502152"/>
            <a:ext cx="548640" cy="54864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16" name="Image 2" descr="/home/claude/project/icons/project-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3573475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4728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— Cross-Venue Order Router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3758184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Min-cost max-flow and bipartite matching route orders across exchanges for best execution price.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325112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471416"/>
            <a:ext cx="548640" cy="54864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21" name="Image 3" descr="/home/claude/project/icons/brief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" y="4542739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416552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— Budget-Constrained Portfolio Selector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08760" y="47274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Knapsack-style NP-hard asset selection solved via an approximation algorithm with a provable ratio guarantee.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5294376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5440680"/>
            <a:ext cx="548640" cy="54864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26" name="Image 4" descr="/home/claude/project/icons/d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" y="551200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385816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6 — Monte Carlo Risk Engine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08760" y="5696712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Value-at-Risk simulation and reservoir sampling over streaming price data.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1856232"/>
            <a:ext cx="914400" cy="91440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6" name="Image 0" descr="/home/claude/project/icons/j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252" y="1975104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2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algorithms &amp; data structures — no java.util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46420" y="1856232"/>
            <a:ext cx="914400" cy="91440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11" name="Image 1" descr="/home/claude/projec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92" y="1975104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Data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72000" y="3246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2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price series, order-book &amp; news data feeds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95460" y="1856232"/>
            <a:ext cx="914400" cy="91440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16" name="Image 2" descr="/home/claude/project/icons/v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332" y="1975104"/>
            <a:ext cx="676656" cy="676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5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21040" y="3246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2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per subsystem, incl. randomized-algorithm checks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620202" y="4186362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897380" y="4462272"/>
            <a:ext cx="914400" cy="91440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21" name="Image 3" descr="/home/claude/project/icons/git-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6252" y="4581144"/>
            <a:ext cx="676656" cy="6766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486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22960" y="5852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2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five parallel subsystem modules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4389120" y="42062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46420" y="4462272"/>
            <a:ext cx="914400" cy="91440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26" name="Image 4" descr="/home/claude/project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5292" y="4581144"/>
            <a:ext cx="676656" cy="6766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486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72000" y="5852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2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hosting and team collaboration</a:t>
            </a:r>
            <a:endParaRPr lang="en-US" sz="1020" dirty="0"/>
          </a:p>
        </p:txBody>
      </p:sp>
      <p:sp>
        <p:nvSpPr>
          <p:cNvPr id="29" name="Shape 22"/>
          <p:cNvSpPr/>
          <p:nvPr/>
        </p:nvSpPr>
        <p:spPr>
          <a:xfrm>
            <a:off x="8138160" y="42062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9EFF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395460" y="4462272"/>
            <a:ext cx="914400" cy="914400"/>
          </a:xfrm>
          <a:prstGeom prst="ellipse">
            <a:avLst/>
          </a:prstGeom>
          <a:solidFill>
            <a:srgbClr val="E9EFFB"/>
          </a:solidFill>
          <a:ln/>
        </p:spPr>
      </p:sp>
      <p:pic>
        <p:nvPicPr>
          <p:cNvPr id="31" name="Image 5" descr="/home/claude/project/icons/bo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4332" y="4581144"/>
            <a:ext cx="676656" cy="6766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486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Javadoc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321040" y="5852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20" dirty="0">
                <a:solidFill>
                  <a:srgbClr val="5B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and per-subsystem design notes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Algorithms, One Trading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79589" y="1997964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C8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679589" y="295808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DP optimizer runtime at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10⁵ prices, k = 1000 trades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20069" y="1997964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C8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520069" y="295808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Core-optimizer ledger matches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reference on small inputs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141B45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4526280"/>
            <a:ext cx="1005840" cy="1005840"/>
          </a:xfrm>
          <a:prstGeom prst="ellipse">
            <a:avLst/>
          </a:prstGeom>
          <a:solidFill>
            <a:srgbClr val="2A3570"/>
          </a:solidFill>
          <a:ln/>
        </p:spPr>
      </p:sp>
      <p:pic>
        <p:nvPicPr>
          <p:cNvPr id="12" name="Image 0" descr="/home/claude/project/icons/trophy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4657039"/>
            <a:ext cx="744322" cy="74432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94560" y="420624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TradeOptima delivers a single, working Java platform spanning ticker/news search, constrained trade optimization, cross-venue order routing, budget-constrained portfolio selection, and Monte Carlo risk simulation — demonstrating command of every advanced-algorithm family in the DSA-3 canon, hand-built end to end.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618</Words>
  <Application>Microsoft Macintosh PowerPoint</Application>
  <PresentationFormat>Widescreen</PresentationFormat>
  <Paragraphs>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Jacob Variganji</cp:lastModifiedBy>
  <cp:revision>5</cp:revision>
  <dcterms:created xsi:type="dcterms:W3CDTF">2026-08-27T04:30:32Z</dcterms:created>
  <dcterms:modified xsi:type="dcterms:W3CDTF">2026-09-18T05:01:45Z</dcterms:modified>
</cp:coreProperties>
</file>